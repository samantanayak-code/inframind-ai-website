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48" y="1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0283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inframindepc.com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0"/>
            <a:ext cx="73152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423160"/>
            <a:ext cx="3474720" cy="4572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114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InfraMind EPC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 Statement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Digitise. Analyse. Decide.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Samanta Nayak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– Contracts &amp; Claims  |  Infrastructure AI Architect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inframindepc.com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|  v2.0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75120" y="13716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19+ Years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EPC Infrastructure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03720" y="2377440"/>
            <a:ext cx="1188720" cy="36576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9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INFRAMIND EPC | FIDIC | MAHSR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 Am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0" y="228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InfraMind EPC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2926080" cy="3566160"/>
          </a:xfrm>
          <a:prstGeom prst="roundRect">
            <a:avLst>
              <a:gd name="adj" fmla="val 25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88720"/>
            <a:ext cx="2743200" cy="1828800"/>
          </a:xfrm>
          <a:prstGeom prst="roundRect">
            <a:avLst>
              <a:gd name="adj" fmla="val 3000"/>
            </a:avLst>
          </a:prstGeom>
          <a:solidFill>
            <a:srgbClr val="0D3A5C"/>
          </a:solidFill>
          <a:ln w="12700">
            <a:solidFill>
              <a:srgbClr val="0D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502920" y="3063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Samanta Nayak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474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– Contracts &amp; Claims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9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AI Architect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Larsen &amp; Toubro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66160" y="109728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&amp; claims professional with 19+ years of experience in EPC infrastructure delivery — from site execution through FIDIC contract administration, EOT and quantum claims, dispute boards, and ICC arbitration.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566160" y="2331720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069080" y="2468880"/>
            <a:ext cx="640080" cy="502920"/>
          </a:xfrm>
          <a:prstGeom prst="roundRect">
            <a:avLst>
              <a:gd name="adj" fmla="val 1090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69080" y="24688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11880" y="303580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Field-Hardened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Expertise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49240" y="2331720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52160" y="2468880"/>
            <a:ext cx="640080" cy="502920"/>
          </a:xfrm>
          <a:prstGeom prst="roundRect">
            <a:avLst>
              <a:gd name="adj" fmla="val 1090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24688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394960" y="303580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FIDIC &amp; ICC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Arbitration Practitioner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32320" y="2331720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635240" y="2468880"/>
            <a:ext cx="640080" cy="502920"/>
          </a:xfrm>
          <a:prstGeom prst="roundRect">
            <a:avLst>
              <a:gd name="adj" fmla="val 1090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35240" y="24688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178040" y="303580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AI System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66160" y="39319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combination — field-hardened domain expertise and live AI system development — is what InfraMind EPC represents. The work is tested in production. Not in a proof-of-concept.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528"/>
          </a:solidFill>
          <a:ln w="12700">
            <a:solidFill>
              <a:srgbClr val="0A15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This Different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0" y="228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InfraMind EPC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1E4A7A"/>
          </a:solidFill>
          <a:ln w="12700">
            <a:solidFill>
              <a:srgbClr val="2A5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9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contractual depth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08960" y="114300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1E4A7A"/>
          </a:solidFill>
          <a:ln w="12700">
            <a:solidFill>
              <a:srgbClr val="2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325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0" y="20574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9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delivery context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0" y="114300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1E4A7A"/>
          </a:solidFill>
          <a:ln w="12700">
            <a:solidFill>
              <a:srgbClr val="2A5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1325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Counsel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0" y="20574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9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site reality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37360" y="3246120"/>
            <a:ext cx="73152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80560" y="3246120"/>
            <a:ext cx="73152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68880" y="292608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52400" dist="508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514600" y="2999232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InfraMind EPC sits at the intersection of all three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41148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and every advisory service is built by a practitioner who has administered FIDIC contracts on megaprojects, served as a Fact Witness in ICC arbitration, and built the digital systems on the same project where they were needed.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Capabilities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0" y="228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InfraMind EPC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61288"/>
            <a:ext cx="502920" cy="274320"/>
          </a:xfrm>
          <a:prstGeom prst="roundRect">
            <a:avLst>
              <a:gd name="adj" fmla="val 2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612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FIDIC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49047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 &amp; Claims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FIDIC administration, notice management, Sub-Clause 20.1 compliance, EOT strategy, variation ID, counter-claim defence, dispute boards.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19272" y="1051560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10712" y="1161288"/>
            <a:ext cx="502920" cy="274320"/>
          </a:xfrm>
          <a:prstGeom prst="roundRect">
            <a:avLst>
              <a:gd name="adj" fmla="val 2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0712" y="11612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410712" y="149047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 Analysis &amp;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EOT Preparation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10712" y="205740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IAP, TIA, Window Analysis, As-Built vs As-Planned. Contemporaneous record compilation built to ICC arbitration standard.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72784" y="1051560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64224" y="1161288"/>
            <a:ext cx="502920" cy="274320"/>
          </a:xfrm>
          <a:prstGeom prst="roundRect">
            <a:avLst>
              <a:gd name="adj" fmla="val 2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11612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364224" y="149047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Controls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Planning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64224" y="205740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Primavera P6 baseline, schedule variance, critical path, resource levelling, 3-month look-ahead, monthly reporting.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880360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990088"/>
            <a:ext cx="502920" cy="274320"/>
          </a:xfrm>
          <a:prstGeom prst="roundRect">
            <a:avLst>
              <a:gd name="adj" fmla="val 2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90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331927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AI-Enabled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Intelligence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88620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Twin, NCR Tracker, Contract Forensics, OCR Intelligence — deployed on live EPC megaprojects.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19272" y="2880360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10712" y="2990088"/>
            <a:ext cx="502920" cy="274320"/>
          </a:xfrm>
          <a:prstGeom prst="roundRect">
            <a:avLst>
              <a:gd name="adj" fmla="val 2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10712" y="2990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410712" y="331927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Dispute Resolution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Arbitration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10712" y="388620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reports, factual witness statements, ICC / DIAC / SIAC / LCIA proceedings. Served as ICC Fact Witness.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226296" y="2880360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317736" y="2990088"/>
            <a:ext cx="502920" cy="274320"/>
          </a:xfrm>
          <a:prstGeom prst="roundRect">
            <a:avLst>
              <a:gd name="adj" fmla="val 20000"/>
            </a:avLst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17736" y="2990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9317736" y="331927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Dispute Resolution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Arbitration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317736" y="388620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reports, factual witness statements, ICC / DIAC / SIAC / LCIA proceedings. Served as ICC Fact Witness.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528"/>
          </a:solidFill>
          <a:ln w="12700">
            <a:solidFill>
              <a:srgbClr val="0A15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AI-Enabled Operational Intelligence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228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InfraMind EPC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965960" cy="3383280"/>
          </a:xfrm>
          <a:prstGeom prst="roundRect">
            <a:avLst>
              <a:gd name="adj" fmla="val 4651"/>
            </a:avLst>
          </a:prstGeom>
          <a:solidFill>
            <a:srgbClr val="1A3A5C"/>
          </a:solidFill>
          <a:ln w="12700">
            <a:solidFill>
              <a:srgbClr val="2A5A8C"/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234440"/>
            <a:ext cx="1508760" cy="292608"/>
          </a:xfrm>
          <a:prstGeom prst="roundRect">
            <a:avLst>
              <a:gd name="adj" fmla="val 21875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344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43000" y="1719072"/>
            <a:ext cx="411480" cy="4114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MAHSR T-3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Twin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project operational intelligence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14600" y="1097280"/>
            <a:ext cx="1965960" cy="3383280"/>
          </a:xfrm>
          <a:prstGeom prst="roundRect">
            <a:avLst>
              <a:gd name="adj" fmla="val 4651"/>
            </a:avLst>
          </a:prstGeom>
          <a:solidFill>
            <a:srgbClr val="1A3A5C"/>
          </a:solidFill>
          <a:ln w="12700">
            <a:solidFill>
              <a:srgbClr val="2A5A8C"/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0" y="1234440"/>
            <a:ext cx="1508760" cy="292608"/>
          </a:xfrm>
          <a:prstGeom prst="roundRect">
            <a:avLst>
              <a:gd name="adj" fmla="val 21875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12344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1719072"/>
            <a:ext cx="411480" cy="4114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22402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NCR Tracker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06040" y="306324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non-conformance management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097280"/>
            <a:ext cx="1965960" cy="3383280"/>
          </a:xfrm>
          <a:prstGeom prst="roundRect">
            <a:avLst>
              <a:gd name="adj" fmla="val 4651"/>
            </a:avLst>
          </a:prstGeom>
          <a:solidFill>
            <a:srgbClr val="1A3A5C"/>
          </a:solidFill>
          <a:ln w="12700">
            <a:solidFill>
              <a:srgbClr val="2A5A8C"/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92040" y="1234440"/>
            <a:ext cx="1508760" cy="292608"/>
          </a:xfrm>
          <a:prstGeom prst="roundRect">
            <a:avLst>
              <a:gd name="adj" fmla="val 21875"/>
            </a:avLst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2344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Demonstrable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40680" y="1719072"/>
            <a:ext cx="411480" cy="41148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2402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Forensics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54880" y="306324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contract clause extraction and analysis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12280" y="1097280"/>
            <a:ext cx="1965960" cy="3383280"/>
          </a:xfrm>
          <a:prstGeom prst="roundRect">
            <a:avLst>
              <a:gd name="adj" fmla="val 4651"/>
            </a:avLst>
          </a:prstGeom>
          <a:solidFill>
            <a:srgbClr val="1A3A5C"/>
          </a:solidFill>
          <a:ln w="12700">
            <a:solidFill>
              <a:srgbClr val="2A5A8C"/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040880" y="1234440"/>
            <a:ext cx="1508760" cy="292608"/>
          </a:xfrm>
          <a:prstGeom prst="roundRect">
            <a:avLst>
              <a:gd name="adj" fmla="val 21875"/>
            </a:avLst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12344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Demonstrable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589520" y="1719072"/>
            <a:ext cx="411480" cy="41148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03720" y="22402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03720" y="306324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digitisation and handwritten record recognition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AI-augmented systems designed around real EPC problems — built by a practitioner and tested in production.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Track Record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0" y="228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InfraMind EPC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reflect Samanta Nayak's direct experience at Larsen &amp; Toubro — not InfraMind EPC client engagements, which are yet to commence.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1572768" cy="18288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572768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2286000"/>
            <a:ext cx="658368" cy="36576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37744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Sub-Clause 20.1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Compliance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94436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MAHSR T-3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048256" y="1463040"/>
            <a:ext cx="1572768" cy="18288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93976" y="1572768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15+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505456" y="2286000"/>
            <a:ext cx="658368" cy="36576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93976" y="237744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EOT Claims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93976" y="294436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MAHSR T-3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30752" y="1463040"/>
            <a:ext cx="1572768" cy="18288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76472" y="1572768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ICC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187952" y="2286000"/>
            <a:ext cx="658368" cy="36576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76472" y="237744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76472" y="294436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MAHSR T-3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13248" y="1463040"/>
            <a:ext cx="1572768" cy="18288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58968" y="1572768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Forensic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870448" y="2286000"/>
            <a:ext cx="658368" cy="36576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58968" y="237744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Analysis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58968" y="294436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MAHSR T-3 &amp; OPGC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095744" y="1463040"/>
            <a:ext cx="1572768" cy="18288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141464" y="1572768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Witness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552944" y="2286000"/>
            <a:ext cx="658368" cy="36576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41464" y="237744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 Arbitration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141464" y="294436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OPGC MGR Railway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" y="34564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Representative Project Experience</a:t>
            </a:r>
            <a:endParaRPr lang="en-US" sz="14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867039"/>
              </p:ext>
            </p:extLst>
          </p:nvPr>
        </p:nvGraphicFramePr>
        <p:xfrm>
          <a:off x="365760" y="3840480"/>
          <a:ext cx="8412480" cy="11430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MAHSR T-3 Track Package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 – Contracts &amp; Claims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FIDIC Yellow Book | INR 3,142 Cr | 115.877 km HSR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ICC Arbitration – OPGC MGR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 Witness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 → Award Disposal | ICC proceedings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Product Deployment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Founder, InfraMind EPC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Twin &amp; NCR Tracker on live megaproject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Advisory Services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0" y="228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InfraMind EPC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206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161288"/>
            <a:ext cx="54864" cy="923544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1430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Strategy for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EPC Operations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1645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EPC contractors seeking AI adoption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EEF6FF"/>
          </a:solidFill>
          <a:ln w="12700">
            <a:solidFill>
              <a:srgbClr val="BDD7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3716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60–90 min consultation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800600" y="1051560"/>
            <a:ext cx="4206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10328" y="1161288"/>
            <a:ext cx="54864" cy="923544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56632" y="11430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Twin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56632" y="1645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infrastructure contractors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680960" y="1371600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EEF6FF"/>
          </a:solidFill>
          <a:ln w="12700">
            <a:solidFill>
              <a:srgbClr val="BDD7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0" y="13716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 scoping session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2350008"/>
            <a:ext cx="4206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" y="2459736"/>
            <a:ext cx="54864" cy="923544"/>
          </a:xfrm>
          <a:prstGeom prst="roundRect">
            <a:avLst>
              <a:gd name="adj" fmla="val 50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244144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 Intelligence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" y="29443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counsel &amp; contracts managers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46120" y="2670048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EEF6FF"/>
          </a:solidFill>
          <a:ln w="12700">
            <a:solidFill>
              <a:srgbClr val="BDD7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267004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 (NDA-protected)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00600" y="2350008"/>
            <a:ext cx="4206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0328" y="2459736"/>
            <a:ext cx="54864" cy="923544"/>
          </a:xfrm>
          <a:prstGeom prst="roundRect">
            <a:avLst>
              <a:gd name="adj" fmla="val 50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56632" y="244144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Expert Advisory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56632" y="29443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counsel &amp; expert witnesses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680960" y="2670048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EEF6FF"/>
          </a:solidFill>
          <a:ln w="12700">
            <a:solidFill>
              <a:srgbClr val="BDD7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0" y="267004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min (NDA-protected)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3648456"/>
            <a:ext cx="4206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" y="3758184"/>
            <a:ext cx="54864" cy="923544"/>
          </a:xfrm>
          <a:prstGeom prst="roundRect">
            <a:avLst>
              <a:gd name="adj" fmla="val 50000"/>
            </a:avLst>
          </a:prstGeom>
          <a:solidFill>
            <a:srgbClr val="2D5E8E"/>
          </a:solidFill>
          <a:ln w="12700">
            <a:solidFill>
              <a:srgbClr val="2D5E8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373989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Planning, Scheduling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Programme Controls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1792" y="424281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EPC project controls teams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46120" y="3968496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EEF6FF"/>
          </a:solidFill>
          <a:ln w="12700">
            <a:solidFill>
              <a:srgbClr val="BDD7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46120" y="396849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per project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00600" y="3648456"/>
            <a:ext cx="4206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910328" y="3758184"/>
            <a:ext cx="54864" cy="923544"/>
          </a:xfrm>
          <a:prstGeom prst="roundRect">
            <a:avLst>
              <a:gd name="adj" fmla="val 50000"/>
            </a:avLst>
          </a:prstGeom>
          <a:solidFill>
            <a:srgbClr val="2D5E8E"/>
          </a:solidFill>
          <a:ln w="12700">
            <a:solidFill>
              <a:srgbClr val="2D5E8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56632" y="373989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 Analysis &amp;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EOT Claims Support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56632" y="424281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managers, legal counsel, project directors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680960" y="3968496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EEF6FF"/>
          </a:solidFill>
          <a:ln w="12700">
            <a:solidFill>
              <a:srgbClr val="BDD7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80960" y="396849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per claim complexity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client engagements are currently active — these are proposed models available for discussion.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Credentials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0" y="228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InfraMind EPC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106424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0241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19+ Years EPC Infrastructure Experience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13075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execution through contract management and dispute resolution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673352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5910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Manager – Contracts &amp; Claims, Larsen &amp; Toubro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" y="1874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years on major infrastructure delivery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240280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1579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ICC Arbitration Fact Witness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" y="24414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OPGC MGR Railway Project — full arbitration lifecycle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807208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2724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Generalist Certification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9808" y="30083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Outskill — certified AI practitioner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374136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AIG Community Champion 2025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9808" y="35753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leadership and knowledge sharing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941064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3858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SCL Delay &amp; Disruption Protocol Training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9808" y="41422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FIDIC 1999 and 2017, ICC Arbitration procedures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4507992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44256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Qualifications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9808" y="4709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Primavera P6, TILOS, Oracle Unifier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77840" y="1005840"/>
            <a:ext cx="3200400" cy="3977640"/>
          </a:xfrm>
          <a:prstGeom prst="roundRect">
            <a:avLst>
              <a:gd name="adj" fmla="val 2857"/>
            </a:avLst>
          </a:prstGeom>
          <a:solidFill>
            <a:srgbClr val="0D1B3E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715000" y="1143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Expertise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309360" y="1572768"/>
            <a:ext cx="1828800" cy="36576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0" y="1783080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1A3A5C"/>
          </a:solidFill>
          <a:ln w="12700">
            <a:solidFill>
              <a:srgbClr val="2A5A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0" y="178308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FIDIC 1999 / 2017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269480" y="1783080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1A3A5C"/>
          </a:solidFill>
          <a:ln w="12700">
            <a:solidFill>
              <a:srgbClr val="2A5A8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69480" y="178308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EOT Claims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669280" y="2331720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1A3A5C"/>
          </a:solidFill>
          <a:ln w="12700">
            <a:solidFill>
              <a:srgbClr val="2A5A8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0" y="23317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 Arbitration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269480" y="2331720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1A3A5C"/>
          </a:solidFill>
          <a:ln w="12700">
            <a:solidFill>
              <a:srgbClr val="2A5A8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69480" y="23317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Primavera P6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669280" y="2880360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1A3A5C"/>
          </a:solidFill>
          <a:ln w="12700">
            <a:solidFill>
              <a:srgbClr val="2A5A8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0" y="288036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Sub-Clause 20.1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269480" y="2880360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1A3A5C"/>
          </a:solidFill>
          <a:ln w="12700">
            <a:solidFill>
              <a:srgbClr val="2A5A8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69480" y="288036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TILOS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669280" y="3429000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1A3A5C"/>
          </a:solidFill>
          <a:ln w="12700">
            <a:solidFill>
              <a:srgbClr val="2A5A8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0" y="34290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Digital Twin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269480" y="3429000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1A3A5C"/>
          </a:solidFill>
          <a:ln w="12700">
            <a:solidFill>
              <a:srgbClr val="2A5A8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69480" y="34290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NCR Management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669280" y="3977640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1A3A5C"/>
          </a:solidFill>
          <a:ln w="12700">
            <a:solidFill>
              <a:srgbClr val="2A5A8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69280" y="39776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Analysis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269480" y="3977640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1A3A5C"/>
          </a:solidFill>
          <a:ln w="12700">
            <a:solidFill>
              <a:srgbClr val="2A5A8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69480" y="39776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Unifier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InfraMind EPC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In Touch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2743200" cy="4572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860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Samanta Nayak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– Contracts &amp; Claims  |  Infrastructure AI Architect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Website:</a:t>
            </a:r>
            <a:endParaRPr lang="en-US" sz="1100" dirty="0"/>
          </a:p>
        </p:txBody>
      </p:sp>
      <p:sp>
        <p:nvSpPr>
          <p:cNvPr id="10" name="Text 8">
            <a:hlinkClick r:id="rId3"/>
          </p:cNvPr>
          <p:cNvSpPr/>
          <p:nvPr/>
        </p:nvSpPr>
        <p:spPr>
          <a:xfrm>
            <a:off x="1508760" y="3246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inframindepc.com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611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08760" y="3611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inframindepc.com/contact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160520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Interested in discussing how operational intelligence can reduce contractual exposure on your project? Schedule a consultation via the website.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49440" y="1371600"/>
            <a:ext cx="1600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Digitise.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Analyse.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223760" y="3246120"/>
            <a:ext cx="1005840" cy="36576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33832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 | June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823</Words>
  <Application>Microsoft Office PowerPoint</Application>
  <PresentationFormat>On-screen Show (16:9)</PresentationFormat>
  <Paragraphs>199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InfraMind EPC — Capability Statement</dc:title>
  <dc:subject>PptxGenJS Presentation</dc:subject>
  <dc:creator>Samanta Nayak</dc:creator>
  <cp:lastModifiedBy>SAMANTA NAYAK</cp:lastModifiedBy>
  <cp:revision>2</cp:revision>
  <dcterms:created xsi:type="dcterms:W3CDTF">2026-06-12T05:44:12Z</dcterms:created>
  <dcterms:modified xsi:type="dcterms:W3CDTF">2026-06-12T11:39:20Z</dcterms:modified>
</cp:coreProperties>
</file>