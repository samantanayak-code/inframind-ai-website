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114800" y="1371600"/>
            <a:ext cx="1371600" cy="1371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2926080"/>
            <a:ext cx="1219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D0D3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InfraMind AI</a:t>
            </a:r>
            <a:endParaRPr lang="en-US" sz="4400" dirty="0"/>
          </a:p>
        </p:txBody>
      </p:sp>
      <p:sp>
        <p:nvSpPr>
          <p:cNvPr id="4" name="Text 1"/>
          <p:cNvSpPr/>
          <p:nvPr/>
        </p:nvSpPr>
        <p:spPr>
          <a:xfrm>
            <a:off x="0" y="3657600"/>
            <a:ext cx="1219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A8D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Capability Statement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0" y="4206240"/>
            <a:ext cx="1219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45A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AI-Enabled EPC Operational Intelligence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0" y="4754880"/>
            <a:ext cx="1219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A8D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June 2026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0" y="6400800"/>
            <a:ext cx="1219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8D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— For Intended Recipient Only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E2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8D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InfraMind AI — Executive Capability Statement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64922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8D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— For Intended Recipient Only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400800" y="64922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https://inframind.ai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5486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0D3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Summary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11887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D0D3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InfraMind AI delivers practitioner-built AI operational intelligence systems for EPC megaprojects. Founded by Samanta Nayak — a 20+ year EPC infrastructure veteran and ICC Arbitration Fact Witness.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103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45A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Rarest Combination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25603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45A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Experience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286000" y="256032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0D3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20+ years EPC infrastructure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29260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45A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286000" y="292608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0D3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FIDIC contract administration, claims &amp; dispute resolution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" y="32918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45A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286000" y="329184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0D3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engineering, full-stack development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36576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45A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Credibility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286000" y="365760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0D3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ICC Arbitration Fact Witness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40233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45A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Deployment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286000" y="402336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0D3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on MAHSR T-3 (INR 3,142 Crore FIDIC Yellow Book)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7200" y="4754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8D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Mission: Eliminate the information lag that transforms manageable risks into costly disputes.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2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8D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InfraMind AI — Executive Capability Statement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64922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8D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— For Intended Recipient Only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400800" y="64922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https://inframind.ai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5486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0D3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Portfolio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4023360" cy="1280160"/>
          </a:xfrm>
          <a:prstGeom prst="rect">
            <a:avLst>
              <a:gd name="adj" fmla="val 7143"/>
            </a:avLst>
          </a:prstGeom>
          <a:solidFill>
            <a:srgbClr val="14171C"/>
          </a:solidFill>
          <a:ln w="12700">
            <a:solidFill>
              <a:srgbClr val="C45A2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3258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45A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MAHSR T-3 Digital Twin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164592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D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Operational Intelligence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40080" y="1920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0D3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75% MIS reduction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21488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45A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4754880" y="1188720"/>
            <a:ext cx="4023360" cy="1280160"/>
          </a:xfrm>
          <a:prstGeom prst="rect">
            <a:avLst>
              <a:gd name="adj" fmla="val 7143"/>
            </a:avLst>
          </a:prstGeom>
          <a:solidFill>
            <a:srgbClr val="14171C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37760" y="13258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NCR Tracker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937760" y="164592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D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 Intelligence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937760" y="1920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0D3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40%+ faster closure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937760" y="21488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57200" y="2651760"/>
            <a:ext cx="4023360" cy="1280160"/>
          </a:xfrm>
          <a:prstGeom prst="rect">
            <a:avLst>
              <a:gd name="adj" fmla="val 7143"/>
            </a:avLst>
          </a:prstGeom>
          <a:solidFill>
            <a:srgbClr val="14171C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27889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 Forensics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0080" y="310896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D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 Intelligence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40080" y="33832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0D3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Weeks → Hours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40080" y="361188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Demonstrable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4754880" y="2651760"/>
            <a:ext cx="4023360" cy="1280160"/>
          </a:xfrm>
          <a:prstGeom prst="rect">
            <a:avLst>
              <a:gd name="adj" fmla="val 7143"/>
            </a:avLst>
          </a:prstGeom>
          <a:solidFill>
            <a:srgbClr val="14171C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37760" y="27889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OCR Intelligence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937760" y="310896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D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 Intelligence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937760" y="33832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0D3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98%+ accuracy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937760" y="361188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Demonstrable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457200" y="4114800"/>
            <a:ext cx="4023360" cy="1280160"/>
          </a:xfrm>
          <a:prstGeom prst="rect">
            <a:avLst>
              <a:gd name="adj" fmla="val 7143"/>
            </a:avLst>
          </a:prstGeom>
          <a:solidFill>
            <a:srgbClr val="14171C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" y="42519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TCB Simulation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40080" y="457200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D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Programme Intelligence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40080" y="4846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0D3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Time-Cost-Buffer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40080" y="507492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Development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2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8D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InfraMind AI — Executive Capability Statement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64922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8D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— For Intended Recipient Only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400800" y="64922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https://inframind.ai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5486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0D3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Four-Layer Architecture</a:t>
            </a:r>
            <a:endParaRPr lang="en-US" sz="24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57200" y="1188720"/>
            <a:ext cx="822960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8D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InfraMind AI — Executive Capability Statement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64922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8D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— For Intended Recipient Only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400800" y="64922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https://inframind.ai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5486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0D3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MAHSR T-3 Digital Twin</a:t>
            </a:r>
            <a:endParaRPr lang="en-US" sz="24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88720"/>
            <a:ext cx="8229600" cy="2926080"/>
          </a:xfrm>
          <a:prstGeom prst="ellipse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57200" y="4297680"/>
            <a:ext cx="2560320" cy="1097280"/>
          </a:xfrm>
          <a:prstGeom prst="rect">
            <a:avLst>
              <a:gd name="adj" fmla="val 8333"/>
            </a:avLst>
          </a:prstGeom>
          <a:solidFill>
            <a:srgbClr val="14171C"/>
          </a:solidFill>
          <a:ln w="12700">
            <a:solidFill>
              <a:srgbClr val="C45A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438912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45A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457200" y="493776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8D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Modules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3291840" y="4297680"/>
            <a:ext cx="2560320" cy="1097280"/>
          </a:xfrm>
          <a:prstGeom prst="rect">
            <a:avLst>
              <a:gd name="adj" fmla="val 8333"/>
            </a:avLst>
          </a:prstGeom>
          <a:solidFill>
            <a:srgbClr val="14171C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291840" y="438912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115.877 km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3291840" y="493776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8D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6126480" y="4297680"/>
            <a:ext cx="2560320" cy="1097280"/>
          </a:xfrm>
          <a:prstGeom prst="rect">
            <a:avLst>
              <a:gd name="adj" fmla="val 8333"/>
            </a:avLst>
          </a:prstGeom>
          <a:solidFill>
            <a:srgbClr val="14171C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126480" y="438912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75%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6126480" y="493776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8D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 Reduction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457200" y="5577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D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 Value: INR 3,142 Crore | FIDIC Yellow Book | 115.877 km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8D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InfraMind AI — Executive Capability Statement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64922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8D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— For Intended Recipient Only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400800" y="64922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https://inframind.ai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5486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0D3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NCR Tracker</a:t>
            </a:r>
            <a:endParaRPr lang="en-US" sz="24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57200" y="1188720"/>
            <a:ext cx="822960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8D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InfraMind AI — Executive Capability Statement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64922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8D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— For Intended Recipient Only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400800" y="64922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https://inframind.ai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5486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0D3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Ecosystem</a:t>
            </a:r>
            <a:endParaRPr lang="en-US" sz="24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57200" y="1188720"/>
            <a:ext cx="822960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8D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InfraMind AI — Executive Capability Statement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64922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8D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— For Intended Recipient Only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400800" y="64922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https://inframind.ai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5486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0D3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EPC Intelligence Consulting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4023360" cy="914400"/>
          </a:xfrm>
          <a:prstGeom prst="rect">
            <a:avLst>
              <a:gd name="adj" fmla="val 10000"/>
            </a:avLst>
          </a:prstGeom>
          <a:solidFill>
            <a:srgbClr val="14171C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3716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Strategy Consulting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54880" y="1188720"/>
            <a:ext cx="4023360" cy="914400"/>
          </a:xfrm>
          <a:prstGeom prst="rect">
            <a:avLst>
              <a:gd name="adj" fmla="val 10000"/>
            </a:avLst>
          </a:prstGeom>
          <a:solidFill>
            <a:srgbClr val="14171C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37760" y="13716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 Twin Architecture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286000"/>
            <a:ext cx="4023360" cy="914400"/>
          </a:xfrm>
          <a:prstGeom prst="rect">
            <a:avLst>
              <a:gd name="adj" fmla="val 10000"/>
            </a:avLst>
          </a:prstGeom>
          <a:solidFill>
            <a:srgbClr val="14171C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4688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 Intelligence Design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54880" y="2286000"/>
            <a:ext cx="4023360" cy="914400"/>
          </a:xfrm>
          <a:prstGeom prst="rect">
            <a:avLst>
              <a:gd name="adj" fmla="val 10000"/>
            </a:avLst>
          </a:prstGeom>
          <a:solidFill>
            <a:srgbClr val="14171C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37760" y="24688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Expert Advisory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383280"/>
            <a:ext cx="4023360" cy="914400"/>
          </a:xfrm>
          <a:prstGeom prst="rect">
            <a:avLst>
              <a:gd name="adj" fmla="val 10000"/>
            </a:avLst>
          </a:prstGeom>
          <a:solidFill>
            <a:srgbClr val="14171C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35661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Planning, Scheduling &amp; Programme Controls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54880" y="3383280"/>
            <a:ext cx="4023360" cy="914400"/>
          </a:xfrm>
          <a:prstGeom prst="rect">
            <a:avLst>
              <a:gd name="adj" fmla="val 10000"/>
            </a:avLst>
          </a:prstGeom>
          <a:solidFill>
            <a:srgbClr val="14171C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37760" y="35661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Delay Analysis, EOT &amp; Claims Support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8D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InfraMind AI — Executive Capability Statement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64922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8D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— For Intended Recipient Only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400800" y="64922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https://inframind.ai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5486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0D3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Credentials</a:t>
            </a:r>
            <a:endParaRPr lang="en-US" sz="24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57200" y="1188720"/>
            <a:ext cx="8229600" cy="36576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50292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3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20+ Years EPC Infrastructure Experience — Manager, Contracts &amp; Claims, L&amp;T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457200" y="5349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3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ICC Arbitration Fact Witness — Dispute resolution and expert testimony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457200" y="56692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3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AI Generalist Certification — Outskill — Applied AI for business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457200" y="5989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3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AIG Community Champion 2025 — AI community leadership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8D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InfraMind AI — Executive Capability Statement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64922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8D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— For Intended Recipient Only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400800" y="64922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https://inframind.ai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5486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0D3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Stakeholders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4023360" cy="1371600"/>
          </a:xfrm>
          <a:prstGeom prst="rect">
            <a:avLst>
              <a:gd name="adj" fmla="val 6667"/>
            </a:avLst>
          </a:prstGeom>
          <a:solidFill>
            <a:srgbClr val="14171C"/>
          </a:solidFill>
          <a:ln w="12700">
            <a:solidFill>
              <a:srgbClr val="C45A2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3716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45A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EPC Contractors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182880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0D3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Operational intelligence, reduced contractual exposure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54880" y="1188720"/>
            <a:ext cx="4023360" cy="1371600"/>
          </a:xfrm>
          <a:prstGeom prst="rect">
            <a:avLst>
              <a:gd name="adj" fmla="val 6667"/>
            </a:avLst>
          </a:prstGeom>
          <a:solidFill>
            <a:srgbClr val="14171C"/>
          </a:solidFill>
          <a:ln w="12700">
            <a:solidFill>
              <a:srgbClr val="C45A2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37760" y="13716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45A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PMCs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937760" y="182880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0D3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project visibility, automated quality tracking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2834640"/>
            <a:ext cx="4023360" cy="1371600"/>
          </a:xfrm>
          <a:prstGeom prst="rect">
            <a:avLst>
              <a:gd name="adj" fmla="val 6667"/>
            </a:avLst>
          </a:prstGeom>
          <a:solidFill>
            <a:srgbClr val="14171C"/>
          </a:solidFill>
          <a:ln w="12700">
            <a:solidFill>
              <a:srgbClr val="C45A2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30175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45A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Infrastructure Owners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0080" y="347472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0D3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Defensible records, dispute prevention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754880" y="2834640"/>
            <a:ext cx="4023360" cy="1371600"/>
          </a:xfrm>
          <a:prstGeom prst="rect">
            <a:avLst>
              <a:gd name="adj" fmla="val 6667"/>
            </a:avLst>
          </a:prstGeom>
          <a:solidFill>
            <a:srgbClr val="14171C"/>
          </a:solidFill>
          <a:ln w="12700">
            <a:solidFill>
              <a:srgbClr val="C45A2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37760" y="30175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45A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Government Authorities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937760" y="347472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0D3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Compliance dashboards, audit-ready documentation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4480560"/>
            <a:ext cx="4023360" cy="1371600"/>
          </a:xfrm>
          <a:prstGeom prst="rect">
            <a:avLst>
              <a:gd name="adj" fmla="val 6667"/>
            </a:avLst>
          </a:prstGeom>
          <a:solidFill>
            <a:srgbClr val="14171C"/>
          </a:solidFill>
          <a:ln w="12700">
            <a:solidFill>
              <a:srgbClr val="C45A2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46634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45A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Rail Projects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0080" y="512064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0D3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Chainage-referenced corridor intelligence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754880" y="4480560"/>
            <a:ext cx="4023360" cy="1371600"/>
          </a:xfrm>
          <a:prstGeom prst="rect">
            <a:avLst>
              <a:gd name="adj" fmla="val 6667"/>
            </a:avLst>
          </a:prstGeom>
          <a:solidFill>
            <a:srgbClr val="14171C"/>
          </a:solidFill>
          <a:ln w="12700">
            <a:solidFill>
              <a:srgbClr val="C45A2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37760" y="46634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45A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Arbitration Support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937760" y="512064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0D3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ICC-grade evidence, expert testimony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2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8D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InfraMind AI — Executive Capability Statement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64922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8D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— For Intended Recipient Only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400800" y="64922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https://inframind.ai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5486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0D3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Vision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118872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i="1" dirty="0">
                <a:solidFill>
                  <a:srgbClr val="D0D3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"To make operational intelligence the default state of EPC megaproject administration — eliminating the information lag that transforms manageable risks into costly disputes."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29260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45A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Contact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33832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0D3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InfraMind AI — AI-Enabled EPC Operational Intelligence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3749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https://inframind.ai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114800" y="2286000"/>
            <a:ext cx="1097280" cy="10972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3566160"/>
            <a:ext cx="1219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D0D3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InfraMind AI</a:t>
            </a:r>
            <a:endParaRPr lang="en-US" sz="3600" dirty="0"/>
          </a:p>
        </p:txBody>
      </p:sp>
      <p:sp>
        <p:nvSpPr>
          <p:cNvPr id="4" name="Text 1"/>
          <p:cNvSpPr/>
          <p:nvPr/>
        </p:nvSpPr>
        <p:spPr>
          <a:xfrm>
            <a:off x="0" y="4297680"/>
            <a:ext cx="1219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https://inframind.ai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0" y="4754880"/>
            <a:ext cx="1219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8A8D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Digitise. Analyse. Decide.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0" y="6400800"/>
            <a:ext cx="1219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8D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— For Intended Recipient Only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InfraMind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InfraMind AI — Executive Capability Statement</dc:title>
  <dc:subject>Executive Capability Statement</dc:subject>
  <dc:creator>InfraMind AI</dc:creator>
  <cp:lastModifiedBy>InfraMind AI</cp:lastModifiedBy>
  <cp:revision>1</cp:revision>
  <dcterms:created xsi:type="dcterms:W3CDTF">2026-06-07T13:37:48Z</dcterms:created>
  <dcterms:modified xsi:type="dcterms:W3CDTF">2026-06-07T13:37:48Z</dcterms:modified>
</cp:coreProperties>
</file>